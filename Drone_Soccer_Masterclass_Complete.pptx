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874519"/>
            <a:ext cx="10058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AIR ARENA TECH MASTERCLASS</a:t>
            </a:r>
          </a:p>
          <a:p>
            <a:pPr>
              <a:spcAft>
                <a:spcPts val="1800"/>
              </a:spcAft>
            </a:pPr>
            <a:r>
              <a:rPr sz="4000" b="1">
                <a:solidFill>
                  <a:srgbClr val="F8FAFC"/>
                </a:solidFill>
                <a:latin typeface="Microsoft JhengHei"/>
                <a:ea typeface="Microsoft JhengHei"/>
              </a:rPr>
              <a:t>足球無人機 (Drone Soccer)</a:t>
            </a:r>
            <a:br/>
            <a:r>
              <a:t>技術全解與競技調校手冊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JhengHei"/>
                <a:ea typeface="Microsoft JhengHei"/>
              </a:rPr>
              <a:t>從零基礎硬體拆解、電控極限調校到 FAI/FIDA 賽事實戰體系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MODULE 1: ORIGIN &amp; GOVERNANCE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運動起源與國際雙軌賽制體系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2016 誕生背景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發源於韓國全州市科技推廣專案。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克服傳統穿越機／空拍機易炸機、槳葉外露受傷的痛點。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全包覆球形外框，允許空中劇烈對撞與團隊攻防。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迅速發展為融合 STEAM 教育與電競運動的跨界項目。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國際雙軌賽制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FAI（國際航空運動總會）：2019 年列為正式航空運動，代號 F9A，納入奧會運動體系。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FIDA（國際無人機足球總會）：主導職業聯賽、洲際盃與專項世界盃賽事實務。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台灣推動核心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CTAF（中華民國飛行運動總會）：對接 FAI，掌管國家運動員證照（SL）、教練與裁判考核。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CDSA（中華無人機競技運動協會）：對接 FIDA，建立標準場地並組訓代表隊出征。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MODULE 1: ARENA SPECIFICATIONS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Class 20 vs. Class 40 規格與場地標準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48097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8BDF8"/>
                </a:solidFill>
                <a:latin typeface="Microsoft JhengHei"/>
                <a:ea typeface="Microsoft JhengHei"/>
              </a:rPr>
              <a:t>Class 20（Mini 新秀組／F9A-B）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機體規格：球徑 20cm ±1cm，重量約 100g～150g。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防護網籠：6m × 3m × 3m（教室與活動中心即拆即建）。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球門配置：內徑約 60cm，離地高 1.2m～1.5m。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競賽編制：3 對 3（1 前鋒 + 2 守備員）。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教學定位：國中小創客課程、零基礎啟蒙與社團體驗。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2120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783080"/>
            <a:ext cx="48097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BBF24"/>
                </a:solidFill>
                <a:latin typeface="Microsoft JhengHei"/>
                <a:ea typeface="Microsoft JhengHei"/>
              </a:rPr>
              <a:t>Class 40（國際標準組／F9A-A）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機體規格：球徑 40cm ±2cm，重量限制 ≤1100g。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防護網籠：12～16m × 6～7m × 4.5m（需大型挑高體育館）。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球門配置：內徑約 80～100cm，離地懸掛 3.0m～3.5m。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競賽編制：5 對 5（1 前鋒 + 4 守備／破門）。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教學定位：高中職校隊、大專競技與世界代表隊選拔。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MODULE 2: HARDWARE &amp; AERODYNAMICS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機體核心構造與外骨骼空氣動力學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機體防護構造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球體防護罩：高韌性 PP／PC，高彈性碰撞吸能。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碳纖維底板：高剛性中樞基座，抗扭曲變形。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四軸佈局：正槳（CW）與反槳（CCW）對角抵銷反扭矩。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外框帶來的流體影響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下洗氣流（Downwash）穿網紊流：推力約衰減 10%～15%，底盤油門需加大。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轉動慣量顯著放大：外圍質量重，俯仰／翻滾慣性大，起步與急煞易延遲。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碰撞彈性機制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撞擊彈射（Impact Bouncing）：對撞不炸機，動能轉為彈性反彈。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戰術衍生：「借壁彈牆反切」與「門前擠壓卡位」。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MODULE 3: CONTROL &amp; TELEMETRY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32 位元飛控架構、雙陀螺儀與通訊鏈路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32 位元飛控大腦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晶片選型：STM32 F405／F722 主控。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硬體浮點運算單元（FPU），每秒完成數千次姿態誤差解算。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CPU 負載必須穩定低於 65%，杜絕排程丟包空中翻車。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雙陀螺儀容錯機制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主板整合雙陀螺儀（如 MPU6000 + ICM42688）。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數據融合過濾高頻共振雜訊。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單顆陀螺儀撞擊飽和溢出時，系統毫秒級切換備援。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BBF24"/>
                </a:solidFill>
                <a:latin typeface="Microsoft JhengHei"/>
                <a:ea typeface="Microsoft JhengHei"/>
              </a:rPr>
              <a:t>射頻通訊規範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ELRS 2.4G 封包率鎖定 250Hz～500Hz（指令延遲低至約 2ms）。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切勿開 1000Hz：防護網阻隔易導致靈敏度衰退掉包。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圖傳強制鎖死 25mW：多機對戰依 Raceband 隔頻，防止側頻干擾反白。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MODULE 3: ESC &amp; MOTOR DRIVE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30A+ 四合一電調、DShot600 與 PWM 頻率抉擇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30A+ 電調規格底線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球門推擠螺旋槳驟停時，瞬間堵轉電流極大。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Class 20：標配 20A～35A。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Class 40：標配 40A～55A 四合一電調。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全面採用 DShot600 數位協定，免校準油門且具 CRC 防錯。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BBF24"/>
                </a:solidFill>
                <a:latin typeface="Microsoft JhengHei"/>
                <a:ea typeface="Microsoft JhengHei"/>
              </a:rPr>
              <a:t>電調 PWM 斬波頻率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24kHz（卡位爆發型）：低速扭力大、對撞硬挺，適合破門／後衛。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48kHz（前鋒主流型）：線性順滑、約省電 15%、溫升較慢，適合精細穿門。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嚴禁 96kHz：瞬間扭力大幅衰退，碰撞起步發軟。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F4444"/>
                </a:solidFill>
                <a:latin typeface="Microsoft JhengHei"/>
                <a:ea typeface="Microsoft JhengHei"/>
              </a:rPr>
              <a:t>馬達進角（Motor Timing）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設定標準：鎖定 16° 或 Auto。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嚴禁超過 22°！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高進角在低速卡死時電流迅速轉熱，數秒內可燒毀線圈與 MOS。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MODULE 3: FILTERING &amp; SENSING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動態 RPM 濾波架構與馬達磁極數判斷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雙向 DShot + RPM 濾波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電調即時回傳真實馬達轉速（RPM）。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精準架設極窄陷波，濾除運轉基頻與諧波。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大幅壓低軟體低通延遲，保留跟手感。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BBF24"/>
                </a:solidFill>
                <a:latin typeface="Microsoft JhengHei"/>
                <a:ea typeface="Microsoft JhengHei"/>
              </a:rPr>
              <a:t>磁極數（Motor Poles）判斷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Class 40（22／23 系列）：多為 12N14P，磁極數填 14。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Class 20（11／12 系列）：多為 9N12P，必須手動改填 12！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填錯後果：濾波切歪，雜訊直灌 PID，馬達約 30 秒內過熱燒毀。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濾波滑塊設定守則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初始裝機濾波滑塊固定在 1.0（中央預設）。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D-term 濾波保守化：維持 1.0，防止球框震動被 D 值放大。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Gyro 與 D-term Lowpass 全面指定為 PT1。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MODULE 3: TUNING TRADE-OFFS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系統調校六大連帶與牽制矩陣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29809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1. D 值 vs 濾波 vs 發熱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D 值壓制彈跳但放大雜訊；必先開雙向 DShot RPM 濾波再推 D 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783080"/>
            <a:ext cx="29809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2. 電調 PWM vs 爆發扭力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48k 平順省電，24k 對撞硬朗；盲目上 96k 門前角力推不動。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809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3. PID 迴率 vs CPU 負載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F4 鎖 4k／4k，F7／H7 跑 8k／8k；負載壓在 65% 以下保平安。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206240"/>
            <a:ext cx="29809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4. 遙控刷新 vs 穿網距離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ELRS 鎖定 250～500Hz，兼顧 2ms 級手感與金屬網籠穿透力。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2336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4206240"/>
            <a:ext cx="29809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5. P 值 vs FF 前饋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適度降 P 防高頻自激；拉高 FF 至 140～180 抵銷外框慣量。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4206240"/>
            <a:ext cx="29809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  <a:ea typeface="Microsoft JhengHei"/>
              </a:rPr>
              <a:t>6. 圖傳功率 vs 多機串頻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全場統一鎖死 25mW，依 Raceband 間隔頻段分流，避免全場反白。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MODULE 3: PID TUNING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PID 基準值、前饋（FF）與手感塑形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PID 基準值配置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P（剛性）：Class20 48～58／Class40 60～75。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I（鎖角）：Class20 65～80／Class40 80～100。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D（煞停）：Class20 28～36／Class40 35～45。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Anti-Gravity：5.0～8.0，抑制猛推／急收油門點頭。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Angle 最大傾角：55°～60°，保障衝刺水平速度。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極致跟手靈魂：FF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定義：推桿瞬間姿態零延遲同步響應。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前饋（FF）建議值：拉高至 140～180。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原理：繞過陀螺儀誤差迴路，推桿瞬間直接注入動能，硬扯動外框慣性。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BBF24"/>
                </a:solidFill>
                <a:latin typeface="Microsoft JhengHei"/>
                <a:ea typeface="Microsoft JhengHei"/>
              </a:rPr>
              <a:t>Air Mode 雙面刃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零油門滑行穿門：收油門姿態不瓦解。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地表暴跳（Ground Bounce）：觸地易引發飛控反抗暴彈。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課堂建議：設獨立開關，觸地即秒切 Disarm。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MODULE 4: PRE-FLIGHT SAFETY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起飛前標準作業流程（SOP）與安全鐵律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48097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8BDF8"/>
                </a:solidFill>
                <a:latin typeface="Microsoft JhengHei"/>
                <a:ea typeface="Microsoft JhengHei"/>
              </a:rPr>
              <a:t>標準起飛 SOP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Step 1：先開遙控器，確認油門最低、Disarm 狀態。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Step 2：機身平放起飛點接電，5 秒內禁止移動，靜置自檢。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Step 3：防護網拉鍊完全閉合，全員退至網外 1 公尺。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Step 4：解鎖後離地約 30cm 低空懸停測試無誤再起飛。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2120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783080"/>
            <a:ext cx="48097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BBF24"/>
                </a:solidFill>
                <a:latin typeface="Microsoft JhengHei"/>
                <a:ea typeface="Microsoft JhengHei"/>
              </a:rPr>
              <a:t>課堂四大安全鐵律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先開控後接電；先拔電後關控：防止訊號中斷馬達誤動作暴衝。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機身通電後手指嚴禁伸入球框：防範槳葉劃傷。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落地、卡網、炸機瞬間 0.1 秒秒切 Disarm：杜絕堵轉燒毀。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</a:rPr>
              <a:t>•  鋰電池嚴守 1C 平衡充電（例：850mAh 設 0.8A），防火袋常備專人看守。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MODULE 4: PIT STOP WORKFLOW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局間 60 秒極限進站地勤（Pit Stop SOP）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220370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38BDF8"/>
                </a:solidFill>
                <a:latin typeface="Microsoft JhengHei"/>
                <a:ea typeface="Microsoft JhengHei"/>
              </a:rPr>
              <a:t>00～15 秒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哨響立即進場拔電。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手背輕觸 4 顆馬達外殼盲測溫度。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確認機架與天線無結構斷裂。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0020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0168" y="1783080"/>
            <a:ext cx="220370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38BDF8"/>
                </a:solidFill>
                <a:latin typeface="Microsoft JhengHei"/>
                <a:ea typeface="Microsoft JhengHei"/>
              </a:rPr>
              <a:t>15～35 秒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抽換滿電電池（局數預先標記）。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對齊機身重心（CG）束緊魔鬼氈。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手指快速刷過 4 支槳葉檢查缺角裂紋。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83080"/>
            <a:ext cx="220370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38BDF8"/>
                </a:solidFill>
                <a:latin typeface="Microsoft JhengHei"/>
                <a:ea typeface="Microsoft JhengHei"/>
              </a:rPr>
              <a:t>35～50 秒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擺回起飛定位格插上電源。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雙手立刻放開，靜置 3 秒。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等待飛控開機音與陀螺儀歸零。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600200"/>
            <a:ext cx="251460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783080"/>
            <a:ext cx="211226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BBF24"/>
                </a:solidFill>
                <a:latin typeface="Microsoft JhengHei"/>
                <a:ea typeface="Microsoft JhengHei"/>
              </a:rPr>
              <a:t>50～60 秒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飛手在場外撥解鎖微動測試即切斷。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地勤全員攜帶工具退回防護網外。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</a:rPr>
              <a:t>•  拉上拉鍊，裁判鳴笛次局開戰。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MODULE 4: MOTOR THERMAL MANAGEMENT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馬達溫度三級判斷與現場熱急救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🟢 正常：微溫（≤45°C）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體感：手指緊貼無不適感。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評估：散熱良好，PID 調校平衡。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對策：正常換電，60 秒內起飛。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BBF24"/>
                </a:solidFill>
                <a:latin typeface="Microsoft JhengHei"/>
                <a:ea typeface="Microsoft JhengHei"/>
              </a:rPr>
              <a:t>🟡 警戒：燙手（50°C～65°C）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體感：手指緊貼約 3 秒因刺痛縮回。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評估：過度對撞推擠，或 D 值偏高、濾波不足。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對策：便攜風扇垂直吹定子約 15 秒強制風冷；提醒飛手減少門前死磕。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F4444"/>
                </a:solidFill>
                <a:latin typeface="Microsoft JhengHei"/>
                <a:ea typeface="Microsoft JhengHei"/>
              </a:rPr>
              <a:t>🔴 致命：極燙（≥75°C／焦味）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體感：碰觸瞬間燙縮手，或聞到焦味。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評估：磁鐵退磁、漆包線絕緣熔化風險。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對策：立刻放棄維修，果斷更換備用機（Backup Drone）！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MODULE 5: COMPETITION TACTICS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團隊角色矩陣與實戰三大攻防戰術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48097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8BDF8"/>
                </a:solidFill>
                <a:latin typeface="Microsoft JhengHei"/>
                <a:ea typeface="Microsoft JhengHei"/>
              </a:rPr>
              <a:t>團隊角色分工矩陣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攻擊前鋒（Striker）：唯一配戴識別光帶，專職穿越球門得分（高 FF 跟手調校）。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破門清道夫（Sweeper）：主動衝撞開道，頂開敵方門將（24kHz 低速爆發調校）。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正印門將（Keeper）：Angle 模式定點懸停，死守球門下緣約 1／3 空域。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外圍截擊（Defender）：中場側撞推擠，破壞敵方前鋒衝刺航線。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2120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783080"/>
            <a:ext cx="48097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BBF24"/>
                </a:solidFill>
                <a:latin typeface="Microsoft JhengHei"/>
                <a:ea typeface="Microsoft JhengHei"/>
              </a:rPr>
              <a:t>三大實戰戰術與規則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拆檔掩護（Pick &amp; Roll）：清道夫先於前鋒半秒衝撞門將頂飛，前鋒切入空門。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底線彈牆（Wall Bounce）：撞擊側壁邊網斜向反彈，避開密集防守盲區切入。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禁區 3 秒規則（Camping）：前鋒在對方球門禁區停留不得超過 3 秒；進球後需完全退出禁區重置。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  <a:ea typeface="Microsoft JhengHei"/>
              </a:rPr>
              <a:t>SUMMARY: MASTERCLASS TAKEAWAYS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Microsoft JhengHei"/>
                <a:ea typeface="Microsoft JhengHei"/>
              </a:rPr>
              <a:t>全課核心心法與調校安全總結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調校心法口訣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雙向 DShot 是地基，磁極數量不能錯。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RPM 濾波精準切，動態陷波抓共振。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進角十六 PWM 四八順，肉搏改二四。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前饋加足跟手飛，球框再重不黏手。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BBF24"/>
                </a:solidFill>
                <a:latin typeface="Microsoft JhengHei"/>
                <a:ea typeface="Microsoft JhengHei"/>
              </a:rPr>
              <a:t>安全操作口訣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先開控後接電，先拔電後關控。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落地觸網秒 Disarm，杜絕馬達堵轉燒。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充電遵循 1C 率，專人看管防爆袋。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全班統一 Mode 2 美國手，建立直覺反射。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38328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80944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Microsoft JhengHei"/>
                <a:ea typeface="Microsoft JhengHei"/>
              </a:rPr>
              <a:t>賽事實戰口訣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局間進站六十秒，拔電換電摸溫度。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燙手風扇吹定子，焦味果斷換備機。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前鋒穿門算重置，禁區三秒不逗留。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</a:rPr>
              <a:t>•  科技體育重團隊，勝負全看地勤功。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